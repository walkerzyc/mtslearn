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1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7"/>
    <p:restoredTop sz="94650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9EE6A-2182-8E4B-8046-7A5BDE6A4E3A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716C7-55D5-5D4C-A693-54E0FBC608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982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716C7-55D5-5D4C-A693-54E0FBC60893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2187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9587DD-DE65-D7A8-F949-3A25C26A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2A973A-E774-6E72-B0CF-6CBDC75AC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ABA366-52BA-4A7D-E313-F5257FFA6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F5CCE6-7F18-E786-EDDC-1E36DA2E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B2C8E-F5EB-B719-1BC4-A31ADCB4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3568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404CE-C2A9-0A26-F15E-5E1DEC74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78FFB-6D6F-6C30-7A79-9ABFCAAA5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2DE524-5883-C59D-A769-EEFF450C3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751F01-D351-1D75-855F-4425CAE35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4C5971-C54A-2D3D-E2EE-673B0B57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1400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04E6D-6E5D-8215-0207-211BE320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B4A367-1706-D1C3-5BA9-561B573E9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264A98-D8EE-0174-D555-C35D5DDDD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C72824-76A2-8A21-398D-D9F567F50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4D118-7186-1850-AE1B-5A00F83A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8704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38D8D-027C-FB4A-5345-F1C82883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1DD912-34B4-7B5D-D044-5AD3F068E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198FAF-93B7-5E48-1771-0F299CB15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BA5CAC-073C-5A4F-5888-140DE362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A920C2-1B64-F5DF-54A4-0939D6FB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C8F6AC-5468-D009-61F5-50001F98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898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924-6657-46F3-58B4-1D7A27A53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1685AD-3FDE-1865-2EEC-12EACAA19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B0AAD7-270F-F8C4-4EAF-6CA63A6A3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04F316-E44F-F557-9928-009B8E025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7852DF-BEB5-53C3-6AC6-738FCD858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19A532-3B05-5AB7-4F3D-DAE6C6E39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3A8AF2-C85C-6623-1669-64E8A057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053788-D055-C9B5-1708-1688B347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4745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13B72-E9AA-5A6F-9077-858EACD2F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35C6FE-E6F1-8DCA-40F1-89B90D91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705308-F1B5-3AB0-E2D3-DB6BC02E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AD7D00-F8AB-3596-A522-6FF72AA5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5023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76F01A-DB13-9DBC-47C7-E7F86957B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60EB66-3955-5B32-B43E-B7A661F27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6BBDB5-3555-83E8-09E7-E73BBD55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838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E93ED-C78C-86DF-B140-4BBF6964B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E25C2-3CF2-8CE1-3365-8506FEB5D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277B7F-6C1C-5B95-3AAF-3BEBBCBAD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DBADD9-6A10-FC68-6F6E-D1A166A8B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6EC66D-DDF2-2DDE-82DE-707113B2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C85F21-1341-FC74-3C5E-655BB2D5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369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7DE6D-BD0F-856D-1AFC-1FA9E4BF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F1AC34-F4A8-C771-4FB0-E05579A9E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FAA50A-6A34-BABE-4960-47A51E99E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9D796D-590B-DF58-A2AD-016B6CA9A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CE98D7-6E02-7C09-84BF-C35CAF9D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6131E4-BC4C-4BF4-4A43-D8950A971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389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E6EE5-469B-954A-A8E7-7BA0781C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896CBA-773A-1DF3-D135-574B73897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D79BBA-3433-9AF8-FC17-1B9FECD2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92194A-DCF5-FA8E-D74A-6AD5B1CE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713141-ECCB-2C13-3365-C8556118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2813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043211-3F91-DB68-6010-06130EC285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696DD5-AD62-E9D4-8C06-3B56CCBBD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D0D8C-9B9B-D071-2475-2C9E7A120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556C8D-509D-69FE-1911-79FCFCCF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8A06F6-1378-F72C-6CDE-9B6851E5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46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E3ABC9-6992-AA9D-CE79-ECBAA811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A9BEAF-5E1F-3ECF-91B0-887D70F29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94700A-A62A-C41B-74B3-CD9448F97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E7E0B-CCE8-674C-9BC9-4FB9258E63C6}" type="datetimeFigureOut">
              <a:rPr kumimoji="1" lang="zh-CN" altLang="en-US" smtClean="0"/>
              <a:t>2024/7/1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BACEEF-79DB-5A38-01CB-286031B47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0A1AC6-E311-38AF-2D26-DE3502E36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0BF62-5F17-BE45-B488-5745967379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4885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A05641D-BF4A-1A03-E61B-0C27256E9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775" y="247166"/>
            <a:ext cx="10638351" cy="624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90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F727AED-A014-2977-8DE4-5CEBBE57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562" y="0"/>
            <a:ext cx="3894925" cy="6858000"/>
          </a:xfrm>
          <a:prstGeom prst="rect">
            <a:avLst/>
          </a:prstGeom>
        </p:spPr>
      </p:pic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6CB23AC-7E61-7F50-F000-4C9C6ED69920}"/>
              </a:ext>
            </a:extLst>
          </p:cNvPr>
          <p:cNvCxnSpPr/>
          <p:nvPr/>
        </p:nvCxnSpPr>
        <p:spPr>
          <a:xfrm flipV="1">
            <a:off x="3507288" y="137786"/>
            <a:ext cx="2192054" cy="263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76D90DA-4FA8-1010-12EB-332367ECB63F}"/>
              </a:ext>
            </a:extLst>
          </p:cNvPr>
          <p:cNvSpPr txBox="1"/>
          <p:nvPr/>
        </p:nvSpPr>
        <p:spPr>
          <a:xfrm>
            <a:off x="3106216" y="353953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ID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E8B0829C-5FE6-D6DB-7E9A-69FBF703D35A}"/>
              </a:ext>
            </a:extLst>
          </p:cNvPr>
          <p:cNvCxnSpPr>
            <a:cxnSpLocks/>
          </p:cNvCxnSpPr>
          <p:nvPr/>
        </p:nvCxnSpPr>
        <p:spPr>
          <a:xfrm flipV="1">
            <a:off x="3961190" y="137786"/>
            <a:ext cx="2514766" cy="1668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DB928CE-5BD0-52F2-3752-15177AD18A62}"/>
              </a:ext>
            </a:extLst>
          </p:cNvPr>
          <p:cNvSpPr txBox="1"/>
          <p:nvPr/>
        </p:nvSpPr>
        <p:spPr>
          <a:xfrm>
            <a:off x="3306752" y="1758956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timestamp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91319D73-EC56-50A7-5BDF-F83DE6186698}"/>
              </a:ext>
            </a:extLst>
          </p:cNvPr>
          <p:cNvCxnSpPr>
            <a:cxnSpLocks/>
          </p:cNvCxnSpPr>
          <p:nvPr/>
        </p:nvCxnSpPr>
        <p:spPr>
          <a:xfrm flipV="1">
            <a:off x="3538603" y="137786"/>
            <a:ext cx="4327742" cy="3157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C871233-7D5B-DD5E-8A2E-1BFE4506D2EA}"/>
              </a:ext>
            </a:extLst>
          </p:cNvPr>
          <p:cNvSpPr txBox="1"/>
          <p:nvPr/>
        </p:nvSpPr>
        <p:spPr>
          <a:xfrm>
            <a:off x="2933513" y="3377853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outcome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F5B00BF-CB1F-A58E-C366-8D1B46824D48}"/>
              </a:ext>
            </a:extLst>
          </p:cNvPr>
          <p:cNvCxnSpPr>
            <a:cxnSpLocks/>
          </p:cNvCxnSpPr>
          <p:nvPr/>
        </p:nvCxnSpPr>
        <p:spPr>
          <a:xfrm flipH="1" flipV="1">
            <a:off x="8505173" y="269309"/>
            <a:ext cx="1247576" cy="3108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1EF4ED1-1135-A3A0-E55E-E9353DED5DBF}"/>
              </a:ext>
            </a:extLst>
          </p:cNvPr>
          <p:cNvCxnSpPr>
            <a:cxnSpLocks/>
          </p:cNvCxnSpPr>
          <p:nvPr/>
        </p:nvCxnSpPr>
        <p:spPr>
          <a:xfrm flipH="1" flipV="1">
            <a:off x="8956110" y="400833"/>
            <a:ext cx="796639" cy="2977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0640136-59FF-7421-10BD-1EB3079A90DE}"/>
              </a:ext>
            </a:extLst>
          </p:cNvPr>
          <p:cNvSpPr txBox="1"/>
          <p:nvPr/>
        </p:nvSpPr>
        <p:spPr>
          <a:xfrm>
            <a:off x="9527467" y="3480148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measures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8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20D7BFB-1EA0-D960-E104-A6F16A7B83A5}"/>
              </a:ext>
            </a:extLst>
          </p:cNvPr>
          <p:cNvSpPr txBox="1"/>
          <p:nvPr/>
        </p:nvSpPr>
        <p:spPr>
          <a:xfrm>
            <a:off x="0" y="2161249"/>
            <a:ext cx="12413293" cy="253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lang="zh-CN" altLang="en-US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 创建实例</a:t>
            </a:r>
            <a:b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</a:br>
            <a:r>
              <a:rPr lang="fr-FR" altLang="zh-CN" dirty="0" err="1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evaluator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fr-FR" altLang="zh-CN" dirty="0" err="1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fe.FeatureExtractorAndModelEvaluator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fr-FR" altLang="zh-CN" dirty="0" err="1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df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'RE_DATE'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[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eGFR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creatinine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],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'PATIENT_ID'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outcome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‘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mean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'max’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])</a:t>
            </a:r>
          </a:p>
          <a:p>
            <a:pPr>
              <a:lnSpc>
                <a:spcPct val="150000"/>
              </a:lnSpc>
            </a:pPr>
            <a:endParaRPr lang="fr-FR" altLang="zh-CN" dirty="0">
              <a:solidFill>
                <a:srgbClr val="080808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ea typeface="Microsoft YaHei Light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lang="zh-CN" altLang="en-US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 特征提取为基础，</a:t>
            </a:r>
            <a:r>
              <a:rPr lang="en-US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logit</a:t>
            </a:r>
            <a:r>
              <a:rPr lang="zh-CN" altLang="en-US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模型拟合，</a:t>
            </a:r>
            <a:r>
              <a:rPr lang="en-US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mean</a:t>
            </a:r>
            <a:r>
              <a:rPr lang="zh-CN" altLang="en-US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填补缺失值，</a:t>
            </a:r>
            <a:r>
              <a:rPr lang="en-US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30%</a:t>
            </a:r>
            <a:r>
              <a:rPr lang="zh-CN" altLang="en-US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的数据用作</a:t>
            </a:r>
            <a:r>
              <a:rPr lang="en-US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test</a:t>
            </a:r>
            <a:r>
              <a:rPr lang="zh-CN" altLang="en-US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和选择是否平衡数据；或者选择交叉检验</a:t>
            </a:r>
            <a:b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</a:br>
            <a:r>
              <a:rPr lang="fr-FR" altLang="zh-CN" dirty="0" err="1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evaluator.run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fr-FR" altLang="zh-CN" dirty="0" err="1">
                <a:solidFill>
                  <a:srgbClr val="66009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model_type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‘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logit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’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dirty="0" err="1">
                <a:solidFill>
                  <a:srgbClr val="66009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fill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fr-FR" altLang="zh-CN" dirty="0" err="1">
                <a:solidFill>
                  <a:srgbClr val="0033B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True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dirty="0" err="1">
                <a:solidFill>
                  <a:srgbClr val="66009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fill_method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‘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mean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’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dirty="0" err="1">
                <a:solidFill>
                  <a:srgbClr val="66009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test_size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fr-FR" altLang="zh-CN" dirty="0">
                <a:solidFill>
                  <a:srgbClr val="1750EB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0.3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dirty="0" err="1">
                <a:solidFill>
                  <a:srgbClr val="66009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balance_data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fr-FR" altLang="zh-CN" dirty="0" err="1">
                <a:solidFill>
                  <a:srgbClr val="0033B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True</a:t>
            </a:r>
            <a:r>
              <a:rPr lang="en-US" altLang="zh-CN" dirty="0">
                <a:solidFill>
                  <a:srgbClr val="0033B3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solidFill>
                  <a:srgbClr val="7030A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cross_val</a:t>
            </a:r>
            <a:r>
              <a:rPr lang="en-US" altLang="zh-CN" sz="1800" dirty="0">
                <a:solidFill>
                  <a:srgbClr val="0033B3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=False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fr-FR" altLang="zh-CN" dirty="0">
              <a:solidFill>
                <a:srgbClr val="080808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ea typeface="Microsoft YaHei Light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3A4B6B-555A-87E1-0FBD-9F8B5CF4F8F4}"/>
              </a:ext>
            </a:extLst>
          </p:cNvPr>
          <p:cNvSpPr txBox="1"/>
          <p:nvPr/>
        </p:nvSpPr>
        <p:spPr>
          <a:xfrm>
            <a:off x="4252223" y="889347"/>
            <a:ext cx="407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输入：符合要求的</a:t>
            </a:r>
            <a:r>
              <a:rPr kumimoji="1" lang="en-US" altLang="zh-CN" sz="2400" b="1" dirty="0" err="1">
                <a:solidFill>
                  <a:srgbClr val="C00000"/>
                </a:solidFill>
              </a:rPr>
              <a:t>dataframe</a:t>
            </a:r>
            <a:endParaRPr kumimoji="1"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EB369E-8586-D145-CDBF-4773B0C3FE8B}"/>
              </a:ext>
            </a:extLst>
          </p:cNvPr>
          <p:cNvSpPr txBox="1"/>
          <p:nvPr/>
        </p:nvSpPr>
        <p:spPr>
          <a:xfrm>
            <a:off x="3823583" y="512204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输出：特征提取后，某模型的拟合效果</a:t>
            </a:r>
          </a:p>
        </p:txBody>
      </p:sp>
    </p:spTree>
    <p:extLst>
      <p:ext uri="{BB962C8B-B14F-4D97-AF65-F5344CB8AC3E}">
        <p14:creationId xmlns:p14="http://schemas.microsoft.com/office/powerpoint/2010/main" val="426960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4FA4FCF-16C2-DFF4-D0C8-0574EC278488}"/>
              </a:ext>
            </a:extLst>
          </p:cNvPr>
          <p:cNvSpPr txBox="1"/>
          <p:nvPr/>
        </p:nvSpPr>
        <p:spPr>
          <a:xfrm>
            <a:off x="468989" y="309927"/>
            <a:ext cx="534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类：</a:t>
            </a:r>
            <a:r>
              <a:rPr lang="fr-FR" altLang="zh-CN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FeatureExtractorAndModelEvaluator</a:t>
            </a:r>
            <a:r>
              <a:rPr lang="fr-FR" altLang="zh-CN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fr-FR" altLang="zh-CN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dataframe</a:t>
            </a:r>
            <a:endParaRPr lang="fr-FR" altLang="zh-CN" dirty="0">
              <a:solidFill>
                <a:srgbClr val="080808"/>
              </a:solidFill>
              <a:effectLst/>
              <a:highlight>
                <a:srgbClr val="FFFFFF"/>
              </a:highligh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9F6C54-84E8-8659-C9AD-FE2740FB40B2}"/>
              </a:ext>
            </a:extLst>
          </p:cNvPr>
          <p:cNvSpPr txBox="1"/>
          <p:nvPr/>
        </p:nvSpPr>
        <p:spPr>
          <a:xfrm>
            <a:off x="0" y="1095611"/>
            <a:ext cx="123033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函数及功能：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特征提取：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’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highlight>
                  <a:srgbClr val="FFFFFF"/>
                </a:highlight>
              </a:rPr>
              <a:t>选择要提取用于计算的特征：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‘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mean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‘</a:t>
            </a:r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</a:rPr>
              <a:t>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’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median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’</a:t>
            </a:r>
            <a:r>
              <a:rPr lang="fr-FR" altLang="zh-CN" dirty="0">
                <a:solidFill>
                  <a:srgbClr val="080808"/>
                </a:solidFill>
                <a:highlight>
                  <a:srgbClr val="FFFFFF"/>
                </a:highlight>
              </a:rPr>
              <a:t>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‘std’</a:t>
            </a:r>
            <a:r>
              <a:rPr lang="fr-FR" altLang="zh-CN" dirty="0">
                <a:solidFill>
                  <a:srgbClr val="080808"/>
                </a:solidFill>
                <a:highlight>
                  <a:srgbClr val="FFFFFF"/>
                </a:highlight>
              </a:rPr>
              <a:t>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‘min’</a:t>
            </a:r>
            <a:r>
              <a:rPr lang="fr-FR" altLang="zh-CN" dirty="0">
                <a:solidFill>
                  <a:srgbClr val="080808"/>
                </a:solidFill>
                <a:highlight>
                  <a:srgbClr val="FFFFFF"/>
                </a:highlight>
              </a:rPr>
              <a:t>.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‘max’</a:t>
            </a:r>
            <a:r>
              <a:rPr lang="fr-FR" altLang="zh-CN" dirty="0">
                <a:solidFill>
                  <a:srgbClr val="080808"/>
                </a:solidFill>
                <a:highlight>
                  <a:srgbClr val="FFFFFF"/>
                </a:highlight>
              </a:rPr>
              <a:t>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‘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diff_last_first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’</a:t>
            </a:r>
            <a:r>
              <a:rPr lang="fr-FR" altLang="zh-CN" dirty="0">
                <a:solidFill>
                  <a:srgbClr val="080808"/>
                </a:solidFill>
                <a:highlight>
                  <a:srgbClr val="FFFFFF"/>
                </a:highlight>
              </a:rPr>
              <a:t>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‘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missing_count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’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‘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missing_ratio</a:t>
            </a:r>
            <a:r>
              <a:rPr lang="zh-CN" altLang="en-US" dirty="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’</a:t>
            </a:r>
            <a:endParaRPr lang="fr-FR" altLang="zh-CN" dirty="0">
              <a:effectLst/>
              <a:highlight>
                <a:srgbClr val="FFFFFF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7573DA-DD63-183A-1B59-D192C158A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975" y="2164501"/>
            <a:ext cx="7772400" cy="45620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E852D0D-BFE4-5CF1-5787-31D77596992D}"/>
              </a:ext>
            </a:extLst>
          </p:cNvPr>
          <p:cNvSpPr txBox="1"/>
          <p:nvPr/>
        </p:nvSpPr>
        <p:spPr>
          <a:xfrm>
            <a:off x="6151684" y="131439"/>
            <a:ext cx="6172200" cy="128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altLang="zh-CN" dirty="0" err="1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evaluator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fr-FR" altLang="zh-CN" dirty="0" err="1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fe.FeatureExtractorAndModelEvaluator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fr-FR" altLang="zh-CN" dirty="0" err="1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df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'RE_DATE'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[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eGFR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creatinine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],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'PATIENT_ID'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outcome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‘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mean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fr-FR" altLang="zh-CN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'max’</a:t>
            </a:r>
            <a:r>
              <a:rPr lang="fr-FR" altLang="zh-CN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215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2CE1016-2172-1538-8265-BEDE34F56EC0}"/>
              </a:ext>
            </a:extLst>
          </p:cNvPr>
          <p:cNvSpPr txBox="1"/>
          <p:nvPr/>
        </p:nvSpPr>
        <p:spPr>
          <a:xfrm>
            <a:off x="2112723" y="2329268"/>
            <a:ext cx="7966553" cy="3733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模型拟合和评估，</a:t>
            </a:r>
            <a:r>
              <a:rPr kumimoji="1" lang="en-US" altLang="zh-CN" sz="2000" b="1" dirty="0">
                <a:solidFill>
                  <a:srgbClr val="C0000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run</a:t>
            </a:r>
            <a:r>
              <a:rPr kumimoji="1" lang="zh-CN" altLang="en-US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函数实现</a:t>
            </a:r>
            <a:endParaRPr kumimoji="1" lang="en-US" altLang="zh-CN" sz="20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zh-CN" sz="200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model_type</a:t>
            </a:r>
            <a:r>
              <a:rPr lang="zh-CN" altLang="fr-FR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：</a:t>
            </a:r>
            <a:r>
              <a:rPr lang="zh-CN" altLang="en-US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模型类型（默认为逻辑回归）</a:t>
            </a:r>
            <a:endParaRPr lang="en-US" altLang="zh-CN" sz="20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zh-CN" sz="200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fill</a:t>
            </a:r>
            <a:r>
              <a:rPr lang="zh-CN" altLang="fr-FR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：</a:t>
            </a:r>
            <a:r>
              <a:rPr lang="zh-CN" altLang="en-US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是否填充缺失值（默认为</a:t>
            </a:r>
            <a:r>
              <a:rPr lang="fr-FR" altLang="zh-CN" sz="200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True</a:t>
            </a:r>
            <a:r>
              <a:rPr lang="zh-CN" altLang="fr-FR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）</a:t>
            </a:r>
            <a:endParaRPr lang="en-US" altLang="zh-CN" sz="20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zh-CN" sz="200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fill_method</a:t>
            </a:r>
            <a:r>
              <a:rPr lang="zh-CN" altLang="fr-FR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：</a:t>
            </a:r>
            <a:r>
              <a:rPr lang="zh-CN" altLang="en-US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填充缺失值的方法（默认为平均值填充）</a:t>
            </a:r>
            <a:endParaRPr lang="en-US" altLang="zh-CN" sz="20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zh-CN" sz="200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test_size</a:t>
            </a:r>
            <a:r>
              <a:rPr lang="zh-CN" altLang="fr-FR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：</a:t>
            </a:r>
            <a:r>
              <a:rPr lang="zh-CN" altLang="en-US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测试集所占比例（默认为</a:t>
            </a:r>
            <a:r>
              <a:rPr lang="en-US" altLang="zh-CN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20%</a:t>
            </a:r>
            <a:r>
              <a:rPr lang="zh-CN" altLang="en-US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）</a:t>
            </a:r>
            <a:endParaRPr lang="en-US" altLang="zh-CN" sz="20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zh-CN" sz="200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balance_data</a:t>
            </a:r>
            <a:r>
              <a:rPr lang="zh-CN" altLang="fr-FR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：</a:t>
            </a:r>
            <a:r>
              <a:rPr lang="zh-CN" altLang="en-US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是否平衡数据（默认为</a:t>
            </a:r>
            <a:r>
              <a:rPr lang="fr-FR" altLang="zh-CN" sz="200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True</a:t>
            </a:r>
            <a:r>
              <a:rPr lang="zh-CN" altLang="fr-FR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）</a:t>
            </a:r>
            <a:endParaRPr lang="en-US" altLang="zh-CN" sz="20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zh-CN" sz="2000" dirty="0" err="1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cross_val</a:t>
            </a:r>
            <a:r>
              <a:rPr lang="zh-CN" altLang="fr-FR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：</a:t>
            </a:r>
            <a:r>
              <a:rPr lang="zh-CN" altLang="en-US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是否使用交叉验证（默认为</a:t>
            </a:r>
            <a:r>
              <a:rPr lang="fr-FR" altLang="zh-CN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False</a:t>
            </a:r>
            <a:r>
              <a:rPr lang="zh-CN" altLang="fr-FR" sz="2000" dirty="0"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）</a:t>
            </a:r>
            <a:endParaRPr lang="zh-CN" altLang="en-US" sz="20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20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1CB10A-6997-CB12-6CBC-CDB06C5BB125}"/>
              </a:ext>
            </a:extLst>
          </p:cNvPr>
          <p:cNvSpPr txBox="1"/>
          <p:nvPr/>
        </p:nvSpPr>
        <p:spPr>
          <a:xfrm>
            <a:off x="1293017" y="907276"/>
            <a:ext cx="10351295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altLang="zh-CN" sz="2000" dirty="0" err="1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evaluator.run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fr-FR" altLang="zh-CN" sz="2000" dirty="0" err="1">
                <a:solidFill>
                  <a:srgbClr val="66009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model_type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fr-FR" altLang="zh-CN" sz="2000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‘</a:t>
            </a:r>
            <a:r>
              <a:rPr lang="fr-FR" altLang="zh-CN" sz="2000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logit</a:t>
            </a:r>
            <a:r>
              <a:rPr lang="fr-FR" altLang="zh-CN" sz="2000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’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sz="2000" dirty="0" err="1">
                <a:solidFill>
                  <a:srgbClr val="66009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fill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fr-FR" altLang="zh-CN" sz="2000" dirty="0" err="1">
                <a:solidFill>
                  <a:srgbClr val="0033B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True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sz="2000" dirty="0" err="1">
                <a:solidFill>
                  <a:srgbClr val="66009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fill_method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fr-FR" altLang="zh-CN" sz="2000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‘</a:t>
            </a:r>
            <a:r>
              <a:rPr lang="fr-FR" altLang="zh-CN" sz="2000" dirty="0" err="1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mean</a:t>
            </a:r>
            <a:r>
              <a:rPr lang="fr-FR" altLang="zh-CN" sz="2000" dirty="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’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fr-FR" altLang="zh-CN" sz="2000" dirty="0" err="1">
                <a:solidFill>
                  <a:srgbClr val="66009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test_size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fr-FR" altLang="zh-CN" sz="2000" dirty="0">
                <a:solidFill>
                  <a:srgbClr val="1750EB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0.3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fr-FR" altLang="zh-CN" sz="2000" dirty="0" err="1">
                <a:solidFill>
                  <a:srgbClr val="66009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balance_data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fr-FR" altLang="zh-CN" sz="2000" dirty="0" err="1">
                <a:solidFill>
                  <a:srgbClr val="0033B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True</a:t>
            </a:r>
            <a:r>
              <a:rPr lang="en-US" altLang="zh-CN" sz="2000" dirty="0">
                <a:solidFill>
                  <a:srgbClr val="0033B3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solidFill>
                  <a:srgbClr val="7030A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cross_val</a:t>
            </a:r>
            <a:r>
              <a:rPr lang="en-US" altLang="zh-CN" sz="2000" dirty="0">
                <a:solidFill>
                  <a:srgbClr val="0033B3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=False</a:t>
            </a:r>
            <a:r>
              <a:rPr lang="fr-FR" altLang="zh-CN" sz="2000" dirty="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Microsoft YaHei Light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fr-FR" altLang="zh-CN" sz="2000" dirty="0">
              <a:solidFill>
                <a:srgbClr val="080808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ea typeface="Microsoft YaHei Light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725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图示&#10;&#10;低可信度描述已自动生成">
            <a:extLst>
              <a:ext uri="{FF2B5EF4-FFF2-40B4-BE49-F238E27FC236}">
                <a16:creationId xmlns:a16="http://schemas.microsoft.com/office/drawing/2014/main" id="{3D20431C-DF07-788F-7DAD-F6126476F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64" y="121418"/>
            <a:ext cx="9277254" cy="633172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图表&#10;&#10;描述已自动生成">
            <a:extLst>
              <a:ext uri="{FF2B5EF4-FFF2-40B4-BE49-F238E27FC236}">
                <a16:creationId xmlns:a16="http://schemas.microsoft.com/office/drawing/2014/main" id="{C466E313-E5DF-4198-3139-5EF3829C2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85" y="1253925"/>
            <a:ext cx="5800197" cy="435014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图表&#10;&#10;描述已自动生成">
            <a:extLst>
              <a:ext uri="{FF2B5EF4-FFF2-40B4-BE49-F238E27FC236}">
                <a16:creationId xmlns:a16="http://schemas.microsoft.com/office/drawing/2014/main" id="{84293924-7357-8F90-37D3-8376FA558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974" y="1253925"/>
            <a:ext cx="5576352" cy="418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44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329</Words>
  <Application>Microsoft Macintosh PowerPoint</Application>
  <PresentationFormat>宽屏</PresentationFormat>
  <Paragraphs>24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Microsoft YaHei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越超 赵</dc:creator>
  <cp:lastModifiedBy>越超 赵</cp:lastModifiedBy>
  <cp:revision>2</cp:revision>
  <dcterms:created xsi:type="dcterms:W3CDTF">2024-07-01T09:03:21Z</dcterms:created>
  <dcterms:modified xsi:type="dcterms:W3CDTF">2024-07-02T02:27:50Z</dcterms:modified>
</cp:coreProperties>
</file>